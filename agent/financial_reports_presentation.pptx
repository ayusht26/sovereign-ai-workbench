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the key components of the financial reports, providing a high-level overview of what each section entails.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major components of the balance sheet, highlighting the assets, liabilities, and equity.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breaks down the profit and loss statement, focusing on revenue, expenses, and net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cash flow statement, detailing the cash movements from operating, investing, and financing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points from the financial reports and discuss the overall financial health and future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BASTION SOVEREIGN AI  •  EXECUTIVE STRATEGIC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Segoe UI"/>
              </a:defRPr>
            </a:pPr>
            <a:r>
              <a:t>Financial Reports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94A3B8"/>
                </a:solidFill>
                <a:latin typeface="Segoe UI"/>
              </a:defRPr>
            </a:pPr>
            <a:r>
              <a:t>Key Financial Insights and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Prepared for: Finance Department   |   Date: September 2026   |   Security: STRICT SOVEREIGN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Introduction to Financial Reports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Overview of Financial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Balance Sheet:: </a:t>
            </a:r>
            <a:r>
              <a:rPr sz="1500">
                <a:solidFill>
                  <a:srgbClr val="F8FAFC"/>
                </a:solidFill>
                <a:latin typeface="Segoe UI"/>
              </a:rPr>
              <a:t>Provides a snapshot of the company's financial position.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Profit and Loss Statement:: </a:t>
            </a:r>
            <a:r>
              <a:rPr sz="1500">
                <a:solidFill>
                  <a:srgbClr val="F8FAFC"/>
                </a:solidFill>
                <a:latin typeface="Segoe UI"/>
              </a:rPr>
              <a:t>Details the company's revenues and expenses.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Cash Flow Statement:: </a:t>
            </a:r>
            <a:r>
              <a:rPr sz="1500">
                <a:solidFill>
                  <a:srgbClr val="F8FAFC"/>
                </a:solidFill>
                <a:latin typeface="Segoe UI"/>
              </a:rPr>
              <a:t>Shows the inflow and outflow of cash.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2 of 6   ·   Bastion Sovereign AI Workbench   · 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Balance Sheet Highlights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Financial Position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Assets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Includes current and non-current assets such as cash, inventory, and property.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Liabilities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Comprises current and long-term liabilities including loans and payables.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580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Equity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Represents shareholders' equity and retained earnings.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3 of 6   ·   Bastion Sovereign AI Workbench   · 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Profit and Loss Statement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Revenue and Expenses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Revenue:: </a:t>
            </a:r>
            <a:r>
              <a:rPr sz="1500">
                <a:solidFill>
                  <a:srgbClr val="F8FAFC"/>
                </a:solidFill>
                <a:latin typeface="Segoe UI"/>
              </a:rPr>
              <a:t>Total income generated from operations.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Expenses:: </a:t>
            </a:r>
            <a:r>
              <a:rPr sz="1500">
                <a:solidFill>
                  <a:srgbClr val="F8FAFC"/>
                </a:solidFill>
                <a:latin typeface="Segoe UI"/>
              </a:rPr>
              <a:t>Costs incurred in the process of earning revenue.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Net Profit:: </a:t>
            </a:r>
            <a:r>
              <a:rPr sz="1500">
                <a:solidFill>
                  <a:srgbClr val="F8FAFC"/>
                </a:solidFill>
                <a:latin typeface="Segoe UI"/>
              </a:rPr>
              <a:t>The difference between total revenue and total expenses.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4 of 6   ·   Bastion Sovereign AI Workbench   · 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Cash Flow Statement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Cash Inflows and Outflows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Operating Activities:: </a:t>
            </a:r>
            <a:r>
              <a:rPr sz="1500">
                <a:solidFill>
                  <a:srgbClr val="F8FAFC"/>
                </a:solidFill>
                <a:latin typeface="Segoe UI"/>
              </a:rPr>
              <a:t>Cash generated from core business operations.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Investing Activities:: </a:t>
            </a:r>
            <a:r>
              <a:rPr sz="1500">
                <a:solidFill>
                  <a:srgbClr val="F8FAFC"/>
                </a:solidFill>
                <a:latin typeface="Segoe UI"/>
              </a:rPr>
              <a:t>Cash used in or generated from investments.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Financing Activities:: </a:t>
            </a:r>
            <a:r>
              <a:rPr sz="1500">
                <a:solidFill>
                  <a:srgbClr val="F8FAFC"/>
                </a:solidFill>
                <a:latin typeface="Segoe UI"/>
              </a:rPr>
              <a:t>Cash flows related to borrowing and equity.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5 of 6   ·   Bastion Sovereign AI Workbench   · 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 and Key Takeaways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Summary of Financial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Overall Financial Health:: </a:t>
            </a:r>
            <a:r>
              <a:rPr sz="1500">
                <a:solidFill>
                  <a:srgbClr val="F8FAFC"/>
                </a:solidFill>
                <a:latin typeface="Segoe UI"/>
              </a:rPr>
              <a:t>Assess the company's financial stability.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Growth Opportunities:: </a:t>
            </a:r>
            <a:r>
              <a:rPr sz="1500">
                <a:solidFill>
                  <a:srgbClr val="F8FAFC"/>
                </a:solidFill>
                <a:latin typeface="Segoe UI"/>
              </a:rPr>
              <a:t>Identify potential areas for financial growth.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Risk Management:: </a:t>
            </a:r>
            <a:r>
              <a:rPr sz="1500">
                <a:solidFill>
                  <a:srgbClr val="F8FAFC"/>
                </a:solidFill>
                <a:latin typeface="Segoe UI"/>
              </a:rPr>
              <a:t>Discuss strategies for mitigating financial risks.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6 of 6   ·   Bastion Sovereign AI Workbench   · 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