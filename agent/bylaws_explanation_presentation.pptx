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slide establishing the core triad of corporate bylaw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Quantitative metrics governing statutory compliance and voting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on Article III governing director election, indemnification, and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Standing committees operate under formal delegated authority from the full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Administrative provisions protecting member privacy and setting assembly notice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Rigorous checks and balances preventing arbitrary alterations to corporate bylaws.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BASTION SOVEREIGN AI  •  EXECUTIVE STRATEGIC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Segoe UI"/>
              </a:defRPr>
            </a:pPr>
            <a:r>
              <a:t>Corporate Governance Bylaws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94A3B8"/>
                </a:solidFill>
                <a:latin typeface="Segoe UI"/>
              </a:defRPr>
            </a:pPr>
            <a:r>
              <a:t>Executive Briefing on Statutory Architecture, Board Mandates &amp; Standing Committees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Prepared for: Indian Oil Corporation Leadership   |   Date: September 2026   |   Security: STRICT SOVEREIGN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Executive Summary: Governance Architecture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Core Constitutional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Constitutional Charter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Bylaws establish the foundational operational rules, officer roles, and democratic procedures governing enterprise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Board Plenary Authority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Defines fiduciary duties, director election classes, indemnification protections, and capital allocation powers.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580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Confidentiality &amp; Compliance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Strict partitions on membership records, statutory committee review cadences, and amendment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2 of 7   ·   Bastion Sovereign AI Workbench   · 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Governance Structure &amp; Performance Metrics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Key Statutory Oversight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3459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06883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100%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Statutory Compliance Rating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6150" y="1645920"/>
            <a:ext cx="243459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9030" y="2560320"/>
            <a:ext cx="206883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4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Active Standing Committees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645920"/>
            <a:ext cx="243459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3660" y="2560320"/>
            <a:ext cx="206883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66.7%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Supermajority Amendment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5410" y="1645920"/>
            <a:ext cx="243459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8290" y="2560320"/>
            <a:ext cx="206883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3 Years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Staggered Director Term Cadence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3 of 7   ·   Bastion Sovereign AI Workbench   · 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Board of Directors: Powers &amp; Fiduciary Roles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Article III Governance Mandates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Plenary Management Power: </a:t>
            </a:r>
            <a:r>
              <a:rPr sz="1500">
                <a:solidFill>
                  <a:srgbClr val="F8FAFC"/>
                </a:solidFill>
                <a:latin typeface="Segoe UI"/>
              </a:rPr>
              <a:t>Full authority to supervise corporate affairs, authorize major debt, and appoint executive officers.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Staggered Terms &amp; Classes: </a:t>
            </a:r>
            <a:r>
              <a:rPr sz="1500">
                <a:solidFill>
                  <a:srgbClr val="F8FAFC"/>
                </a:solidFill>
                <a:latin typeface="Segoe UI"/>
              </a:rPr>
              <a:t>Directors divided into staggered triennial classes to ensure continuous institutional leadership.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Fiduciary Indemnification: </a:t>
            </a:r>
            <a:r>
              <a:rPr sz="1500">
                <a:solidFill>
                  <a:srgbClr val="F8FAFC"/>
                </a:solidFill>
                <a:latin typeface="Segoe UI"/>
              </a:rPr>
              <a:t>Standard liability shields for good-faith decisions under the statutory business judgment rule.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Quorum Requirements: </a:t>
            </a:r>
            <a:r>
              <a:rPr sz="1500">
                <a:solidFill>
                  <a:srgbClr val="F8FAFC"/>
                </a:solidFill>
                <a:latin typeface="Segoe UI"/>
              </a:rPr>
              <a:t>Plenary decisions require simple majority (50% + 1) of seated directors present in person or via teleconference.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4 of 7   ·   Bastion Sovereign AI Workbench   · 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Standing Governance Committees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Specialized Oversight Bodies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Policy &amp; Bylaws Committee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Reviews constitutional amendments, regulatory filings, and ensures compliance with statutory corporate law.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Audit &amp; Risk Committee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Supervises internal financial controls, quarterly statutory audits, and enterprise digital sovereignty.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580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Ethics &amp; Conduct Committee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Enforces executive conflict-of-interest disclosures and resolves operational governance disputes.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5 of 7   ·   Bastion Sovereign AI Workbench   · 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Record Confidentiality &amp; Hub Operations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Administrative Safeguards &amp; Regional Hubs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Membership Record Protection: </a:t>
            </a:r>
            <a:r>
              <a:rPr sz="1500">
                <a:solidFill>
                  <a:srgbClr val="F8FAFC"/>
                </a:solidFill>
                <a:latin typeface="Segoe UI"/>
              </a:rPr>
              <a:t>Confidential registers maintained under seal; inspection permitted solely upon verified written petition.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Regional Hub Governance: </a:t>
            </a:r>
            <a:r>
              <a:rPr sz="1500">
                <a:solidFill>
                  <a:srgbClr val="F8FAFC"/>
                </a:solidFill>
                <a:latin typeface="Segoe UI"/>
              </a:rPr>
              <a:t>Decentralized branches must adhere to unified charter bylaws and file monthly financial reconciliations.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Notice &amp; Meeting Standards: </a:t>
            </a:r>
            <a:r>
              <a:rPr sz="1500">
                <a:solidFill>
                  <a:srgbClr val="F8FAFC"/>
                </a:solidFill>
                <a:latin typeface="Segoe UI"/>
              </a:rPr>
              <a:t>Formal written or electronic notice required 10 to 50 days prior to annual assemblies.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Parliamentary Authority: </a:t>
            </a:r>
            <a:r>
              <a:rPr sz="1500">
                <a:solidFill>
                  <a:srgbClr val="F8FAFC"/>
                </a:solidFill>
                <a:latin typeface="Segoe UI"/>
              </a:rPr>
              <a:t>Meetings governed by Robert's Rules of Order Newly Revised unless superseded by custom bylaws.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6 of 7   ·   Bastion Sovereign AI Workbench   · 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Amendment Procedures &amp; Dissolution Protocols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Constitutional Change &amp; Asset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Sponsorship &amp; Notice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Proposed amendments must be sponsored in writing at least 30 days prior to voting assembly.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Two-Thirds Supermajority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Requires 66.7% affirmative vote of the Board of Directors for final constitutional ratification.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5800" y="1920240"/>
            <a:ext cx="289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Orderly Dissolution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Mandates liquidation of liabilities followed by transfer of net assets to statutory successor entities.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7 of 7   ·   Bastion Sovereign AI Workbench   ·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