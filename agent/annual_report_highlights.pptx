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Indian Oil Corporation Limited and its commitment to transparency and inclusivity through integrated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financial performance metrics for the year, showcasing revenue, profit after tax, and EBITDA.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operational achievements in terms of throughput and capital expenditure, along with intellectual capital gains.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insights from the Chairman's message, emphasizing the company's vision and commitment to value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  <a:latin typeface="Segoe UI"/>
              </a:defRPr>
            </a:pPr>
            <a:r>
              <a:t>BASTION SOVEREIGN AI  •  EXECUTIVE STRATEGIC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Segoe UI"/>
              </a:defRPr>
            </a:pPr>
            <a:r>
              <a:t>Annual Report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94A3B8"/>
                </a:solidFill>
                <a:latin typeface="Segoe UI"/>
              </a:defRPr>
            </a:pPr>
            <a:r>
              <a:t>Key Insights from Recent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Prepared for: Indian Oil Corporation Limited   |   Date: September 2026   |   Security: STRICT SOVEREIGN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Introduction to Indian Oil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About IndianOil:: </a:t>
            </a:r>
            <a:r>
              <a:rPr sz="1500">
                <a:solidFill>
                  <a:srgbClr val="F8FAFC"/>
                </a:solidFill>
                <a:latin typeface="Segoe UI"/>
              </a:rPr>
              <a:t>One of India's largest commercial enterprises with extensive petroleum refining, distribution, and marketing infrastructure.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Integrated Reporting:: </a:t>
            </a:r>
            <a:r>
              <a:rPr sz="1500">
                <a:solidFill>
                  <a:srgbClr val="F8FAFC"/>
                </a:solidFill>
                <a:latin typeface="Segoe UI"/>
              </a:rPr>
              <a:t>Adoption of the Integrated Reporting Framework to provide comprehensive information on value creation.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2 of 5   ·   Bastion Sovereign AI Workbench   · 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Financial Performance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8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₹ 5,66,950 crore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7240" y="2560320"/>
            <a:ext cx="298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₹ 1,313 crore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Profit After Tax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645920"/>
            <a:ext cx="335280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0080" y="2560320"/>
            <a:ext cx="298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97316"/>
                </a:solidFill>
                <a:latin typeface="Segoe UI"/>
              </a:defRPr>
            </a:pPr>
            <a:r>
              <a:t>₹ 22,356 crore</a:t>
            </a:r>
          </a:p>
          <a:p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EBITDA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3 of 5   ·   Bastion Sovereign AI Workbench   · 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Manufactured and Intellectual Capital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Operational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Refineries Throughput:: </a:t>
            </a:r>
            <a:r>
              <a:rPr sz="1500">
                <a:solidFill>
                  <a:srgbClr val="F8FAFC"/>
                </a:solidFill>
                <a:latin typeface="Segoe UI"/>
              </a:rPr>
              <a:t>69.42 MMT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Pipelines Throughput:: </a:t>
            </a:r>
            <a:r>
              <a:rPr sz="1500">
                <a:solidFill>
                  <a:srgbClr val="F8FAFC"/>
                </a:solidFill>
                <a:latin typeface="Segoe UI"/>
              </a:rPr>
              <a:t>85.35 MMT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CAPEX:: </a:t>
            </a:r>
            <a:r>
              <a:rPr sz="1500">
                <a:solidFill>
                  <a:srgbClr val="F8FAFC"/>
                </a:solidFill>
                <a:latin typeface="Segoe UI"/>
              </a:rPr>
              <a:t>₹ 31,421 crore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Sales from Innovation:: </a:t>
            </a:r>
            <a:r>
              <a:rPr sz="1500">
                <a:solidFill>
                  <a:srgbClr val="F8FAFC"/>
                </a:solidFill>
                <a:latin typeface="Segoe UI"/>
              </a:rPr>
              <a:t>₹ 808 crore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Notional Savings through R&amp;D:: </a:t>
            </a:r>
            <a:r>
              <a:rPr sz="1500">
                <a:solidFill>
                  <a:srgbClr val="F8FAFC"/>
                </a:solidFill>
                <a:latin typeface="Segoe UI"/>
              </a:rPr>
              <a:t>₹ 470 crore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4 of 5   ·   Bastion Sovereign AI Workbench   · 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457200" cy="54864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Chairman's Message</a:t>
            </a:r>
          </a:p>
          <a:p>
            <a:pPr>
              <a:defRPr sz="1200">
                <a:solidFill>
                  <a:srgbClr val="F97316"/>
                </a:solidFill>
                <a:latin typeface="Segoe UI"/>
              </a:defRPr>
            </a:pPr>
            <a:r>
              <a:t>Leadership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51C2C"/>
          </a:solidFill>
          <a:ln w="12700">
            <a:solidFill>
              <a:srgbClr val="243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Vision:: </a:t>
            </a:r>
            <a:r>
              <a:rPr sz="1500">
                <a:solidFill>
                  <a:srgbClr val="F8FAFC"/>
                </a:solidFill>
                <a:latin typeface="Segoe UI"/>
              </a:rPr>
              <a:t>Steer forward as an able partner of India’s growth story.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500" b="1">
                <a:solidFill>
                  <a:srgbClr val="F97316"/>
                </a:solidFill>
                <a:latin typeface="Segoe UI"/>
              </a:rPr>
              <a:t>•  Value Creation:: </a:t>
            </a:r>
            <a:r>
              <a:rPr sz="1500">
                <a:solidFill>
                  <a:srgbClr val="F8FAFC"/>
                </a:solidFill>
                <a:latin typeface="Segoe UI"/>
              </a:rPr>
              <a:t>Focus on value creation and commercial contribution along with social causes.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Slide 5 of 5   ·   Bastion Sovereign AI Workbench   ·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